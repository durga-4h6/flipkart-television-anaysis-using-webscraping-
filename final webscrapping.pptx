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97" r:id="rId3"/>
    <p:sldId id="278" r:id="rId4"/>
    <p:sldId id="261" r:id="rId5"/>
    <p:sldId id="281" r:id="rId6"/>
    <p:sldId id="298" r:id="rId7"/>
    <p:sldId id="265" r:id="rId8"/>
    <p:sldId id="296" r:id="rId9"/>
    <p:sldId id="264" r:id="rId10"/>
    <p:sldId id="266" r:id="rId11"/>
    <p:sldId id="299" r:id="rId12"/>
    <p:sldId id="282" r:id="rId13"/>
    <p:sldId id="283" r:id="rId14"/>
    <p:sldId id="284" r:id="rId15"/>
    <p:sldId id="286" r:id="rId16"/>
    <p:sldId id="276" r:id="rId17"/>
    <p:sldId id="294" r:id="rId18"/>
  </p:sldIdLst>
  <p:sldSz cx="12192000" cy="6858000"/>
  <p:notesSz cx="6858000" cy="9144000"/>
  <p:embeddedFontLs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2839" autoAdjust="0"/>
  </p:normalViewPr>
  <p:slideViewPr>
    <p:cSldViewPr snapToGrid="0">
      <p:cViewPr varScale="1">
        <p:scale>
          <a:sx n="69" d="100"/>
          <a:sy n="69" d="100"/>
        </p:scale>
        <p:origin x="55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94296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8439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0115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xmlns="" id="{D62AA37B-3AFB-F95C-1479-A55A2AFC4C5E}"/>
            </a:ext>
          </a:extLst>
        </p:cNvPr>
        <p:cNvGrpSpPr/>
        <p:nvPr/>
      </p:nvGrpSpPr>
      <p:grpSpPr>
        <a:xfrm>
          <a:off x="0" y="0"/>
          <a:ext cx="0" cy="0"/>
          <a:chOff x="0" y="0"/>
          <a:chExt cx="0" cy="0"/>
        </a:xfrm>
      </p:grpSpPr>
      <p:sp>
        <p:nvSpPr>
          <p:cNvPr id="113" name="Google Shape;113;p5:notes">
            <a:extLst>
              <a:ext uri="{FF2B5EF4-FFF2-40B4-BE49-F238E27FC236}">
                <a16:creationId xmlns:a16="http://schemas.microsoft.com/office/drawing/2014/main" xmlns="" id="{426A14D5-57DC-1535-F830-7E506F5075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a:extLst>
              <a:ext uri="{FF2B5EF4-FFF2-40B4-BE49-F238E27FC236}">
                <a16:creationId xmlns:a16="http://schemas.microsoft.com/office/drawing/2014/main" xmlns="" id="{5B350644-8005-98F8-E5CB-C2F973483A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54009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sridurgathogiti"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13483"/>
            <a:ext cx="12190815" cy="6694098"/>
          </a:xfrm>
          <a:prstGeom prst="rect">
            <a:avLst/>
          </a:prstGeom>
          <a:noFill/>
          <a:ln>
            <a:noFill/>
          </a:ln>
        </p:spPr>
      </p:pic>
      <p:sp>
        <p:nvSpPr>
          <p:cNvPr id="4" name="TextBox 3">
            <a:extLst>
              <a:ext uri="{FF2B5EF4-FFF2-40B4-BE49-F238E27FC236}">
                <a16:creationId xmlns:a16="http://schemas.microsoft.com/office/drawing/2014/main" xmlns="" id="{EBCC5244-CD1C-B957-E40D-E5D18679EF2B}"/>
              </a:ext>
            </a:extLst>
          </p:cNvPr>
          <p:cNvSpPr txBox="1"/>
          <p:nvPr/>
        </p:nvSpPr>
        <p:spPr>
          <a:xfrm>
            <a:off x="1167706" y="3695383"/>
            <a:ext cx="1032535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FLIPKART </a:t>
            </a:r>
            <a:r>
              <a:rPr lang="en-US" sz="2400" b="1" dirty="0" smtClean="0">
                <a:latin typeface="Times New Roman" panose="02020603050405020304" pitchFamily="18" charset="0"/>
                <a:cs typeface="Times New Roman" panose="02020603050405020304" pitchFamily="18" charset="0"/>
              </a:rPr>
              <a:t>TELEVISION ANALYSIS </a:t>
            </a:r>
            <a:r>
              <a:rPr lang="en-US" sz="2400" b="1" dirty="0">
                <a:latin typeface="Times New Roman" panose="02020603050405020304" pitchFamily="18" charset="0"/>
                <a:cs typeface="Times New Roman" panose="02020603050405020304" pitchFamily="18" charset="0"/>
              </a:rPr>
              <a:t>USING WEBSCRAPING</a:t>
            </a:r>
          </a:p>
        </p:txBody>
      </p:sp>
      <p:pic>
        <p:nvPicPr>
          <p:cNvPr id="1026" name="Picture 2" descr="Flipkart logo vector download free SVG PNG">
            <a:extLst>
              <a:ext uri="{FF2B5EF4-FFF2-40B4-BE49-F238E27FC236}">
                <a16:creationId xmlns:a16="http://schemas.microsoft.com/office/drawing/2014/main" xmlns="" id="{24E5715A-E05E-FA3D-14AB-A50B315B79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0764" y="4322880"/>
            <a:ext cx="2449285" cy="18572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About Us:</a:t>
            </a:r>
            <a:endParaRPr lang="en-IN" dirty="0"/>
          </a:p>
        </p:txBody>
      </p:sp>
      <p:sp>
        <p:nvSpPr>
          <p:cNvPr id="3" name="Text Placeholder 2"/>
          <p:cNvSpPr>
            <a:spLocks noGrp="1"/>
          </p:cNvSpPr>
          <p:nvPr>
            <p:ph type="body" idx="1"/>
          </p:nvPr>
        </p:nvSpPr>
        <p:spPr/>
        <p:txBody>
          <a:bodyPr>
            <a:normAutofit/>
          </a:bodyPr>
          <a:lstStyle/>
          <a:p>
            <a:pPr marL="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Background? (B-tech)</a:t>
            </a:r>
          </a:p>
          <a:p>
            <a:pPr marL="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Why you want to learn Data Analytics</a:t>
            </a:r>
          </a:p>
          <a:p>
            <a:pPr marL="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Any work experience</a:t>
            </a:r>
          </a:p>
          <a:p>
            <a:pPr marL="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Share your LinkedIn and </a:t>
            </a:r>
            <a:r>
              <a:rPr lang="en-US" sz="2400" dirty="0" err="1">
                <a:latin typeface="Times New Roman" panose="02020603050405020304" pitchFamily="18" charset="0"/>
                <a:cs typeface="Times New Roman" panose="02020603050405020304" pitchFamily="18" charset="0"/>
              </a:rPr>
              <a:t>GitHub</a:t>
            </a:r>
            <a:r>
              <a:rPr lang="en-US" sz="2400" dirty="0">
                <a:latin typeface="Times New Roman" panose="02020603050405020304" pitchFamily="18" charset="0"/>
                <a:cs typeface="Times New Roman" panose="02020603050405020304" pitchFamily="18" charset="0"/>
              </a:rPr>
              <a:t> profile URLs</a:t>
            </a:r>
          </a:p>
          <a:p>
            <a:pPr marL="342900" fontAlgn="base">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LinkedIn </a:t>
            </a: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hlinkClick r:id="rId2"/>
              </a:rPr>
              <a:t>https://www.linkedin.com/in/sridurgathogiti</a:t>
            </a:r>
            <a:endParaRPr lang="en-US" sz="2400" dirty="0">
              <a:latin typeface="Times New Roman" panose="02020603050405020304" pitchFamily="18" charset="0"/>
              <a:cs typeface="Times New Roman" panose="02020603050405020304" pitchFamily="18" charset="0"/>
            </a:endParaRPr>
          </a:p>
          <a:p>
            <a:pPr marL="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Github : </a:t>
            </a:r>
            <a:r>
              <a:rPr lang="en-US" sz="2400" dirty="0">
                <a:solidFill>
                  <a:schemeClr val="accent1"/>
                </a:solidFill>
                <a:latin typeface="Times New Roman" panose="02020603050405020304" pitchFamily="18" charset="0"/>
                <a:cs typeface="Times New Roman" panose="02020603050405020304" pitchFamily="18" charset="0"/>
              </a:rPr>
              <a:t>https://github.com/durga-4h6</a:t>
            </a:r>
          </a:p>
          <a:p>
            <a:pPr marL="342900" fontAlgn="base">
              <a:buFont typeface="Arial" panose="020B0604020202020204" pitchFamily="34" charset="0"/>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2400" dirty="0"/>
          </a:p>
        </p:txBody>
      </p:sp>
    </p:spTree>
    <p:extLst>
      <p:ext uri="{BB962C8B-B14F-4D97-AF65-F5344CB8AC3E}">
        <p14:creationId xmlns:p14="http://schemas.microsoft.com/office/powerpoint/2010/main" val="26057114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501898-F3F3-4391-5B5D-C100FB686C0E}"/>
              </a:ext>
            </a:extLst>
          </p:cNvPr>
          <p:cNvSpPr>
            <a:spLocks noGrp="1"/>
          </p:cNvSpPr>
          <p:nvPr>
            <p:ph type="title"/>
          </p:nvPr>
        </p:nvSpPr>
        <p:spPr>
          <a:xfrm>
            <a:off x="637622" y="276635"/>
            <a:ext cx="10515600" cy="915035"/>
          </a:xfrm>
        </p:spPr>
        <p:txBody>
          <a:bodyPr/>
          <a:lstStyle/>
          <a:p>
            <a:r>
              <a:rPr lang="en-IN" b="1" dirty="0">
                <a:solidFill>
                  <a:schemeClr val="tx1"/>
                </a:solidFill>
                <a:latin typeface="Times New Roman" panose="02020603050405020304" pitchFamily="18" charset="0"/>
                <a:cs typeface="Times New Roman" panose="02020603050405020304" pitchFamily="18" charset="0"/>
              </a:rPr>
              <a:t>Preface:</a:t>
            </a:r>
          </a:p>
        </p:txBody>
      </p:sp>
      <p:sp>
        <p:nvSpPr>
          <p:cNvPr id="3" name="Text Placeholder 2">
            <a:extLst>
              <a:ext uri="{FF2B5EF4-FFF2-40B4-BE49-F238E27FC236}">
                <a16:creationId xmlns:a16="http://schemas.microsoft.com/office/drawing/2014/main" xmlns="" id="{2883F87A-8911-2A6B-0436-A3C21B64F8B1}"/>
              </a:ext>
            </a:extLst>
          </p:cNvPr>
          <p:cNvSpPr>
            <a:spLocks noGrp="1"/>
          </p:cNvSpPr>
          <p:nvPr>
            <p:ph type="body" idx="1"/>
          </p:nvPr>
        </p:nvSpPr>
        <p:spPr>
          <a:xfrm>
            <a:off x="1235177" y="1191670"/>
            <a:ext cx="9721645" cy="4351338"/>
          </a:xfrm>
        </p:spPr>
        <p:txBody>
          <a:bodyPr>
            <a:normAutofit fontScale="70000" lnSpcReduction="20000"/>
          </a:bodyPr>
          <a:lstStyle/>
          <a:p>
            <a:pPr indent="-457200">
              <a:lnSpc>
                <a:spcPct val="150000"/>
              </a:lnSpc>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INTRODUCTION</a:t>
            </a:r>
          </a:p>
          <a:p>
            <a:pPr indent="-457200">
              <a:lnSpc>
                <a:spcPct val="150000"/>
              </a:lnSpc>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BUSINESS PROBLEM </a:t>
            </a:r>
          </a:p>
          <a:p>
            <a:pPr indent="-457200">
              <a:lnSpc>
                <a:spcPct val="150000"/>
              </a:lnSpc>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OBJECTIVE</a:t>
            </a:r>
          </a:p>
          <a:p>
            <a:pPr indent="-457200">
              <a:lnSpc>
                <a:spcPct val="15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TOOLS USED</a:t>
            </a:r>
            <a:endParaRPr lang="en-US" sz="2800" b="1" dirty="0">
              <a:solidFill>
                <a:schemeClr val="tx1"/>
              </a:solidFill>
              <a:latin typeface="Times New Roman" panose="02020603050405020304" pitchFamily="18" charset="0"/>
              <a:cs typeface="Times New Roman" panose="02020603050405020304" pitchFamily="18" charset="0"/>
            </a:endParaRPr>
          </a:p>
          <a:p>
            <a:pPr indent="-457200">
              <a:lnSpc>
                <a:spcPct val="150000"/>
              </a:lnSpc>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WEB SCRAPPING</a:t>
            </a:r>
          </a:p>
          <a:p>
            <a:pPr indent="-457200">
              <a:lnSpc>
                <a:spcPct val="150000"/>
              </a:lnSpc>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rPr>
              <a:t>DATA CLEANING STEPS</a:t>
            </a:r>
            <a:endParaRPr lang="en-US" sz="2800" b="1" dirty="0">
              <a:solidFill>
                <a:schemeClr val="tx1"/>
              </a:solidFill>
              <a:latin typeface="Times New Roman" panose="02020603050405020304" pitchFamily="18" charset="0"/>
              <a:cs typeface="Times New Roman" panose="02020603050405020304" pitchFamily="18" charset="0"/>
            </a:endParaRPr>
          </a:p>
          <a:p>
            <a:pPr indent="-457200">
              <a:lnSpc>
                <a:spcPct val="150000"/>
              </a:lnSpc>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DATA VISUALIZATION</a:t>
            </a:r>
          </a:p>
          <a:p>
            <a:pPr indent="-457200">
              <a:lnSpc>
                <a:spcPct val="150000"/>
              </a:lnSpc>
              <a:buFont typeface="Wingdings" panose="05000000000000000000" pitchFamily="2" charset="2"/>
              <a:buChar char="Ø"/>
            </a:pPr>
            <a:r>
              <a:rPr lang="en-US" sz="2800" b="1" dirty="0">
                <a:solidFill>
                  <a:schemeClr val="tx1"/>
                </a:solidFill>
                <a:latin typeface="Times New Roman" panose="02020603050405020304" pitchFamily="18" charset="0"/>
                <a:cs typeface="Times New Roman" panose="02020603050405020304" pitchFamily="18" charset="0"/>
              </a:rPr>
              <a:t>CONCLUSION</a:t>
            </a:r>
          </a:p>
          <a:p>
            <a:pPr marL="0" indent="0">
              <a:lnSpc>
                <a:spcPct val="150000"/>
              </a:lnSpc>
              <a:buNone/>
            </a:pPr>
            <a:endParaRPr lang="en-IN" dirty="0"/>
          </a:p>
        </p:txBody>
      </p:sp>
    </p:spTree>
    <p:extLst>
      <p:ext uri="{BB962C8B-B14F-4D97-AF65-F5344CB8AC3E}">
        <p14:creationId xmlns:p14="http://schemas.microsoft.com/office/powerpoint/2010/main" val="1552527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65C60B-D09B-73C1-83C7-5B8D1B695E16}"/>
              </a:ext>
            </a:extLst>
          </p:cNvPr>
          <p:cNvSpPr>
            <a:spLocks noGrp="1"/>
          </p:cNvSpPr>
          <p:nvPr>
            <p:ph type="title"/>
          </p:nvPr>
        </p:nvSpPr>
        <p:spPr>
          <a:xfrm>
            <a:off x="495545" y="500743"/>
            <a:ext cx="10498393" cy="778084"/>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xmlns="" id="{D0E2DCD9-A327-3BE0-5E99-2B80AB2BF98B}"/>
              </a:ext>
            </a:extLst>
          </p:cNvPr>
          <p:cNvSpPr>
            <a:spLocks noGrp="1"/>
          </p:cNvSpPr>
          <p:nvPr>
            <p:ph type="body" idx="1"/>
          </p:nvPr>
        </p:nvSpPr>
        <p:spPr>
          <a:xfrm>
            <a:off x="343145" y="1278827"/>
            <a:ext cx="8666153" cy="4783376"/>
          </a:xfrm>
        </p:spPr>
        <p:txBody>
          <a:bodyPr>
            <a:noAutofit/>
          </a:bodyPr>
          <a:lstStyle/>
          <a:p>
            <a:pPr algn="just">
              <a:lnSpc>
                <a:spcPct val="120000"/>
              </a:lnSpc>
            </a:pP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is one of India’s leading e-commerce platforms, offering a wide variety of televisions across different brands and price ranges.</a:t>
            </a:r>
          </a:p>
          <a:p>
            <a:pPr algn="just">
              <a:lnSpc>
                <a:spcPct val="120000"/>
              </a:lnSpc>
            </a:pPr>
            <a:r>
              <a:rPr lang="en-US" sz="2000" dirty="0">
                <a:latin typeface="Times New Roman" panose="02020603050405020304" pitchFamily="18" charset="0"/>
                <a:cs typeface="Times New Roman" panose="02020603050405020304" pitchFamily="18" charset="0"/>
              </a:rPr>
              <a:t>The project focuses on web scraping television data from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using Python and </a:t>
            </a:r>
            <a:r>
              <a:rPr lang="en-US" sz="2000" dirty="0" err="1">
                <a:latin typeface="Times New Roman" panose="02020603050405020304" pitchFamily="18" charset="0"/>
                <a:cs typeface="Times New Roman" panose="02020603050405020304" pitchFamily="18" charset="0"/>
              </a:rPr>
              <a:t>BeautifulSoup</a:t>
            </a:r>
            <a:r>
              <a:rPr lang="en-US" sz="2000" dirty="0">
                <a:latin typeface="Times New Roman" panose="02020603050405020304" pitchFamily="18" charset="0"/>
                <a:cs typeface="Times New Roman" panose="02020603050405020304" pitchFamily="18" charset="0"/>
              </a:rPr>
              <a:t>.</a:t>
            </a:r>
          </a:p>
          <a:p>
            <a:pPr algn="just">
              <a:lnSpc>
                <a:spcPct val="120000"/>
              </a:lnSpc>
            </a:pPr>
            <a:r>
              <a:rPr lang="en-US" sz="2000" dirty="0">
                <a:latin typeface="Times New Roman" panose="02020603050405020304" pitchFamily="18" charset="0"/>
                <a:cs typeface="Times New Roman" panose="02020603050405020304" pitchFamily="18" charset="0"/>
              </a:rPr>
              <a:t>The collected dataset includes key details such as brand, screen size, display type, ratings, reviews, resolution, and prices.</a:t>
            </a:r>
          </a:p>
          <a:p>
            <a:pPr algn="just">
              <a:lnSpc>
                <a:spcPct val="120000"/>
              </a:lnSpc>
            </a:pPr>
            <a:r>
              <a:rPr lang="en-US" sz="2000" dirty="0">
                <a:latin typeface="Times New Roman" panose="02020603050405020304" pitchFamily="18" charset="0"/>
                <a:cs typeface="Times New Roman" panose="02020603050405020304" pitchFamily="18" charset="0"/>
              </a:rPr>
              <a:t>The objective is to analyze pricing patterns, popular TV brands, feature preferences, and customer ratings using Pandas and </a:t>
            </a:r>
            <a:r>
              <a:rPr lang="en-US" sz="2000" dirty="0" err="1">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a:t>
            </a:r>
          </a:p>
          <a:p>
            <a:pPr algn="just">
              <a:lnSpc>
                <a:spcPct val="120000"/>
              </a:lnSpc>
            </a:pPr>
            <a:r>
              <a:rPr lang="en-US" sz="2000" dirty="0">
                <a:latin typeface="Times New Roman" panose="02020603050405020304" pitchFamily="18" charset="0"/>
                <a:cs typeface="Times New Roman" panose="02020603050405020304" pitchFamily="18" charset="0"/>
              </a:rPr>
              <a:t>Insights from this analysis help understand consumer demand, compare television features, and support data-driven decisions for customers and businesses.</a:t>
            </a:r>
          </a:p>
        </p:txBody>
      </p:sp>
      <p:sp>
        <p:nvSpPr>
          <p:cNvPr id="5" name="AutoShape 4" descr="IMDb Yellow Logo on Transparent Background">
            <a:extLst>
              <a:ext uri="{FF2B5EF4-FFF2-40B4-BE49-F238E27FC236}">
                <a16:creationId xmlns:a16="http://schemas.microsoft.com/office/drawing/2014/main" xmlns=""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xmlns=""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2355" y="636998"/>
            <a:ext cx="3010327" cy="5020851"/>
          </a:xfrm>
          <a:prstGeom prst="rect">
            <a:avLst/>
          </a:prstGeom>
        </p:spPr>
      </p:pic>
    </p:spTree>
    <p:extLst>
      <p:ext uri="{BB962C8B-B14F-4D97-AF65-F5344CB8AC3E}">
        <p14:creationId xmlns:p14="http://schemas.microsoft.com/office/powerpoint/2010/main" val="28598941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AC757C9-6048-86FD-D462-6C4061560167}"/>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xmlns=""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xmlns=""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xmlns="" id="{220DBD2A-2603-F502-B2D8-6CE9EB49EA78}"/>
              </a:ext>
            </a:extLst>
          </p:cNvPr>
          <p:cNvSpPr txBox="1"/>
          <p:nvPr/>
        </p:nvSpPr>
        <p:spPr>
          <a:xfrm>
            <a:off x="725214" y="1278827"/>
            <a:ext cx="7762136" cy="5632311"/>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Product information related to televisions on e-commerce platforms like </a:t>
            </a:r>
            <a:r>
              <a:rPr lang="en-US" sz="2000" dirty="0" err="1">
                <a:latin typeface="Times New Roman" panose="02020603050405020304" pitchFamily="18" charset="0"/>
                <a:ea typeface="Calibri" panose="020F0502020204030204" pitchFamily="34" charset="0"/>
                <a:cs typeface="Times New Roman" panose="02020603050405020304" pitchFamily="18" charset="0"/>
              </a:rPr>
              <a:t>Flipkart</a:t>
            </a:r>
            <a:r>
              <a:rPr lang="en-US" sz="2000" dirty="0">
                <a:latin typeface="Times New Roman" panose="02020603050405020304" pitchFamily="18" charset="0"/>
                <a:ea typeface="Calibri" panose="020F0502020204030204" pitchFamily="34" charset="0"/>
                <a:cs typeface="Times New Roman" panose="02020603050405020304" pitchFamily="18" charset="0"/>
              </a:rPr>
              <a:t> is vast and unstructured, making systematic analysis challenging.</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Customers often find it difficult to compare televisions across brands based on price, screen size, resolution, features, and customer ratings.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Retailers and manufacturers lack clear insights into market trends such as popular TV sizes, preferred display technologies, and price-sensitive segments.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There is a strong need for data-driven analysis using web scraping to identify top-performing television brands, optimal pricing ranges, and customer sentiment patterns from ratings and reviews.</a:t>
            </a:r>
          </a:p>
          <a:p>
            <a:pPr marL="285750" indent="-285750" algn="just">
              <a:lnSpc>
                <a:spcPct val="150000"/>
              </a:lnSpc>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Flipkart Icon SVG Vector &amp; PNG Free Download | UXWing">
            <a:extLst>
              <a:ext uri="{FF2B5EF4-FFF2-40B4-BE49-F238E27FC236}">
                <a16:creationId xmlns:a16="http://schemas.microsoft.com/office/drawing/2014/main" xmlns="" id="{4BCFF0D8-214F-7540-7561-4C21AA587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9750" y="1782842"/>
            <a:ext cx="3214500" cy="32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7361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Objectives</a:t>
            </a:r>
            <a:endParaRPr lang="en-IN" dirty="0"/>
          </a:p>
        </p:txBody>
      </p:sp>
      <p:sp>
        <p:nvSpPr>
          <p:cNvPr id="3" name="Text Placeholder 2"/>
          <p:cNvSpPr>
            <a:spLocks noGrp="1"/>
          </p:cNvSpPr>
          <p:nvPr>
            <p:ph type="body" idx="1"/>
          </p:nvPr>
        </p:nvSpPr>
        <p:spPr/>
        <p:txBody>
          <a:bodyPr>
            <a:noAutofit/>
          </a:bodyPr>
          <a:lstStyle/>
          <a:p>
            <a:pPr>
              <a:lnSpc>
                <a:spcPct val="150000"/>
              </a:lnSpc>
            </a:pPr>
            <a:r>
              <a:rPr lang="en-US" sz="2000" dirty="0">
                <a:latin typeface="Times New Roman" panose="02020603050405020304" pitchFamily="18" charset="0"/>
                <a:cs typeface="Times New Roman" panose="02020603050405020304" pitchFamily="18" charset="0"/>
              </a:rPr>
              <a:t>To analyze and compare television brands available on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based on key product attributes such as price, screen size, resolution, and customer ratings.</a:t>
            </a:r>
          </a:p>
          <a:p>
            <a:pPr>
              <a:lnSpc>
                <a:spcPct val="150000"/>
              </a:lnSpc>
            </a:pPr>
            <a:r>
              <a:rPr lang="en-US" sz="2000" dirty="0" smtClean="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identify pricing patterns and performance trends across different television brands and display technologies.</a:t>
            </a:r>
          </a:p>
          <a:p>
            <a:pPr>
              <a:lnSpc>
                <a:spcPct val="150000"/>
              </a:lnSpc>
            </a:pPr>
            <a:r>
              <a:rPr lang="en-US" sz="2000" dirty="0">
                <a:latin typeface="Times New Roman" panose="02020603050405020304" pitchFamily="18" charset="0"/>
                <a:cs typeface="Times New Roman" panose="02020603050405020304" pitchFamily="18" charset="0"/>
              </a:rPr>
              <a:t>To study customer preferences and examine the relationship between price, features (smart TV, display type, resolution), and ratings.</a:t>
            </a:r>
          </a:p>
          <a:p>
            <a:pPr>
              <a:lnSpc>
                <a:spcPct val="150000"/>
              </a:lnSpc>
            </a:pPr>
            <a:r>
              <a:rPr lang="en-US" sz="2000" dirty="0">
                <a:latin typeface="Times New Roman" panose="02020603050405020304" pitchFamily="18" charset="0"/>
                <a:cs typeface="Times New Roman" panose="02020603050405020304" pitchFamily="18" charset="0"/>
              </a:rPr>
              <a:t>To support businesses and retailers in understanding television market trends and improving product positioning and offerings on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428544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AF9875-408F-AAEB-E616-9F7F913C414D}"/>
              </a:ext>
            </a:extLst>
          </p:cNvPr>
          <p:cNvSpPr>
            <a:spLocks noGrp="1"/>
          </p:cNvSpPr>
          <p:nvPr>
            <p:ph type="title"/>
          </p:nvPr>
        </p:nvSpPr>
        <p:spPr>
          <a:xfrm>
            <a:off x="318541" y="425011"/>
            <a:ext cx="4068402"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Scrapping</a:t>
            </a:r>
          </a:p>
        </p:txBody>
      </p:sp>
      <p:sp>
        <p:nvSpPr>
          <p:cNvPr id="5" name="TextBox 4">
            <a:extLst>
              <a:ext uri="{FF2B5EF4-FFF2-40B4-BE49-F238E27FC236}">
                <a16:creationId xmlns:a16="http://schemas.microsoft.com/office/drawing/2014/main" xmlns="" id="{8CBABC51-E6DE-FD43-74F8-6AC7547F18CD}"/>
              </a:ext>
            </a:extLst>
          </p:cNvPr>
          <p:cNvSpPr txBox="1"/>
          <p:nvPr/>
        </p:nvSpPr>
        <p:spPr>
          <a:xfrm>
            <a:off x="318541" y="1280672"/>
            <a:ext cx="6180230" cy="557697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was chosen as the primary data source for extracting television product information.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Browser developer tools (Inspect Element) were used to identify relevant HTML tags containing details such as television name, brand, price, screen size, resolution, and ratings.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Python libraries like Requests and </a:t>
            </a:r>
            <a:r>
              <a:rPr lang="en-US" sz="2000" dirty="0" err="1">
                <a:latin typeface="Times New Roman" panose="02020603050405020304" pitchFamily="18" charset="0"/>
                <a:cs typeface="Times New Roman" panose="02020603050405020304" pitchFamily="18" charset="0"/>
              </a:rPr>
              <a:t>BeautifulSoup</a:t>
            </a:r>
            <a:r>
              <a:rPr lang="en-US" sz="2000" dirty="0">
                <a:latin typeface="Times New Roman" panose="02020603050405020304" pitchFamily="18" charset="0"/>
                <a:cs typeface="Times New Roman" panose="02020603050405020304" pitchFamily="18" charset="0"/>
              </a:rPr>
              <a:t> were utilized to send HTTP requests and scrape television data from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web pages.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pages were accessed to gather a comprehensive set of television listings for better analysis.</a:t>
            </a:r>
          </a:p>
        </p:txBody>
      </p:sp>
      <p:pic>
        <p:nvPicPr>
          <p:cNvPr id="8" name="Picture 7">
            <a:extLst>
              <a:ext uri="{FF2B5EF4-FFF2-40B4-BE49-F238E27FC236}">
                <a16:creationId xmlns:a16="http://schemas.microsoft.com/office/drawing/2014/main" xmlns="" id="{59FB7707-4932-005C-28B4-6EE32A9743FB}"/>
              </a:ext>
            </a:extLst>
          </p:cNvPr>
          <p:cNvPicPr>
            <a:picLocks noChangeAspect="1"/>
          </p:cNvPicPr>
          <p:nvPr/>
        </p:nvPicPr>
        <p:blipFill>
          <a:blip r:embed="rId2"/>
          <a:stretch>
            <a:fillRect/>
          </a:stretch>
        </p:blipFill>
        <p:spPr>
          <a:xfrm>
            <a:off x="7042657" y="425011"/>
            <a:ext cx="4068402" cy="6194450"/>
          </a:xfrm>
          <a:prstGeom prst="rect">
            <a:avLst/>
          </a:prstGeom>
        </p:spPr>
      </p:pic>
    </p:spTree>
    <p:extLst>
      <p:ext uri="{BB962C8B-B14F-4D97-AF65-F5344CB8AC3E}">
        <p14:creationId xmlns:p14="http://schemas.microsoft.com/office/powerpoint/2010/main" val="2964246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3CB927B-2C25-40CC-4590-F7F1CDE38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11E8BBF-25D0-6779-0CC9-D47815541063}"/>
              </a:ext>
            </a:extLst>
          </p:cNvPr>
          <p:cNvSpPr>
            <a:spLocks noGrp="1"/>
          </p:cNvSpPr>
          <p:nvPr>
            <p:ph type="title"/>
          </p:nvPr>
        </p:nvSpPr>
        <p:spPr>
          <a:xfrm>
            <a:off x="-75159" y="298011"/>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Dataset</a:t>
            </a:r>
          </a:p>
        </p:txBody>
      </p:sp>
      <p:pic>
        <p:nvPicPr>
          <p:cNvPr id="4" name="Picture 3">
            <a:extLst>
              <a:ext uri="{FF2B5EF4-FFF2-40B4-BE49-F238E27FC236}">
                <a16:creationId xmlns="" xmlns:a16="http://schemas.microsoft.com/office/drawing/2014/main" id="{659FCCA8-6622-47DB-1CFB-F29579F634F7}"/>
              </a:ext>
            </a:extLst>
          </p:cNvPr>
          <p:cNvPicPr>
            <a:picLocks noChangeAspect="1"/>
          </p:cNvPicPr>
          <p:nvPr/>
        </p:nvPicPr>
        <p:blipFill>
          <a:blip r:embed="rId2"/>
          <a:stretch>
            <a:fillRect/>
          </a:stretch>
        </p:blipFill>
        <p:spPr>
          <a:xfrm>
            <a:off x="1104558" y="1327462"/>
            <a:ext cx="9204960" cy="4223385"/>
          </a:xfrm>
          <a:prstGeom prst="rect">
            <a:avLst/>
          </a:prstGeom>
        </p:spPr>
      </p:pic>
    </p:spTree>
    <p:extLst>
      <p:ext uri="{BB962C8B-B14F-4D97-AF65-F5344CB8AC3E}">
        <p14:creationId xmlns:p14="http://schemas.microsoft.com/office/powerpoint/2010/main" val="34736843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C52877-0C48-5832-A3A6-F82C9EE642F6}"/>
              </a:ext>
            </a:extLst>
          </p:cNvPr>
          <p:cNvSpPr>
            <a:spLocks noGrp="1"/>
          </p:cNvSpPr>
          <p:nvPr>
            <p:ph type="title"/>
          </p:nvPr>
        </p:nvSpPr>
        <p:spPr>
          <a:xfrm>
            <a:off x="348553" y="435917"/>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xmlns=""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326" y="1517596"/>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xmlns=""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014" y="4568005"/>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xmlns=""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3063874"/>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xmlns=""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5777" y="1381892"/>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xmlns=""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710880"/>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xmlns=""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91926" y="3109858"/>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E33525-D926-CE9E-E017-A7BE8655ED3C}"/>
              </a:ext>
            </a:extLst>
          </p:cNvPr>
          <p:cNvSpPr>
            <a:spLocks noGrp="1"/>
          </p:cNvSpPr>
          <p:nvPr>
            <p:ph type="title"/>
          </p:nvPr>
        </p:nvSpPr>
        <p:spPr>
          <a:xfrm>
            <a:off x="0" y="249722"/>
            <a:ext cx="5592097"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xmlns="" id="{3B15DCCC-4D7B-11A3-E7AE-A55D7E9A484F}"/>
              </a:ext>
            </a:extLst>
          </p:cNvPr>
          <p:cNvSpPr txBox="1"/>
          <p:nvPr/>
        </p:nvSpPr>
        <p:spPr>
          <a:xfrm>
            <a:off x="174171" y="973394"/>
            <a:ext cx="7306050" cy="557697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Removed missing and duplicate records to ensure the dataset contained only unique and valid television entries.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Handled inconsistent data formats such as irregular price symbols (₹, commas) and rating formats (for example, “4.3★”).</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Cleaned product names, screen size details, and specifications by removing unwanted characters and extra spaces for consistency.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Converted price columns into numeric format and ratings into float values to enable accurate calculations and visual analysis.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Filtered out irrelevant or incomplete television records that lacked essential details.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Exported the cleaned television dataset into a structured CSV or Excel file for further analysis and visualization using Python</a:t>
            </a:r>
            <a:r>
              <a:rPr lang="en-US" sz="1800" dirty="0"/>
              <a:t>.</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0617" y="499457"/>
            <a:ext cx="4710546" cy="5519547"/>
          </a:xfrm>
          <a:prstGeom prst="rect">
            <a:avLst/>
          </a:prstGeom>
        </p:spPr>
      </p:pic>
    </p:spTree>
    <p:extLst>
      <p:ext uri="{BB962C8B-B14F-4D97-AF65-F5344CB8AC3E}">
        <p14:creationId xmlns:p14="http://schemas.microsoft.com/office/powerpoint/2010/main" val="32442757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solidFill>
                  <a:schemeClr val="tx1"/>
                </a:solidFill>
                <a:latin typeface="Times New Roman" panose="02020603050405020304" pitchFamily="18" charset="0"/>
                <a:cs typeface="Times New Roman" panose="02020603050405020304" pitchFamily="18" charset="0"/>
              </a:rPr>
              <a:t>Data </a:t>
            </a:r>
            <a:r>
              <a:rPr lang="en-IN" sz="2800" b="1" dirty="0" smtClean="0">
                <a:solidFill>
                  <a:schemeClr val="tx1"/>
                </a:solidFill>
                <a:latin typeface="Times New Roman" panose="02020603050405020304" pitchFamily="18" charset="0"/>
                <a:cs typeface="Times New Roman" panose="02020603050405020304" pitchFamily="18" charset="0"/>
              </a:rPr>
              <a:t>Visualization </a:t>
            </a:r>
            <a:r>
              <a:rPr lang="en-IN" sz="2800" b="1" dirty="0" err="1" smtClean="0">
                <a:solidFill>
                  <a:schemeClr val="tx1"/>
                </a:solidFill>
                <a:latin typeface="Times New Roman" panose="02020603050405020304" pitchFamily="18" charset="0"/>
                <a:cs typeface="Times New Roman" panose="02020603050405020304" pitchFamily="18" charset="0"/>
              </a:rPr>
              <a:t>Univariate</a:t>
            </a:r>
            <a:r>
              <a:rPr lang="en-IN" sz="2800" b="1" dirty="0" smtClean="0">
                <a:solidFill>
                  <a:schemeClr val="tx1"/>
                </a:solidFill>
                <a:latin typeface="Times New Roman" panose="02020603050405020304" pitchFamily="18" charset="0"/>
                <a:cs typeface="Times New Roman" panose="02020603050405020304" pitchFamily="18" charset="0"/>
              </a:rPr>
              <a:t> </a:t>
            </a:r>
            <a:r>
              <a:rPr lang="en-IN" sz="2800" b="1" dirty="0">
                <a:solidFill>
                  <a:schemeClr val="tx1"/>
                </a:solidFill>
                <a:latin typeface="Times New Roman" panose="02020603050405020304" pitchFamily="18" charset="0"/>
                <a:cs typeface="Times New Roman" panose="02020603050405020304" pitchFamily="18" charset="0"/>
              </a:rPr>
              <a:t>Analysis (Categorical)</a:t>
            </a:r>
            <a:endParaRPr lang="en-IN" sz="2800" dirty="0"/>
          </a:p>
        </p:txBody>
      </p:sp>
      <p:sp>
        <p:nvSpPr>
          <p:cNvPr id="3" name="Text Placeholder 2"/>
          <p:cNvSpPr>
            <a:spLocks noGrp="1"/>
          </p:cNvSpPr>
          <p:nvPr>
            <p:ph type="body" idx="1"/>
          </p:nvPr>
        </p:nvSpPr>
        <p:spPr>
          <a:xfrm>
            <a:off x="217170" y="1531620"/>
            <a:ext cx="7463790" cy="4645343"/>
          </a:xfrm>
        </p:spPr>
        <p:txBody>
          <a:bodyPr>
            <a:normAutofit/>
          </a:bodyPr>
          <a:lstStyle/>
          <a:p>
            <a:pPr indent="-457200" algn="just" eaLnBrk="0" fontAlgn="base" hangingPunct="0">
              <a:lnSpc>
                <a:spcPct val="100000"/>
              </a:lnSpc>
              <a:spcBef>
                <a:spcPct val="0"/>
              </a:spcBef>
              <a:spcAft>
                <a:spcPct val="0"/>
              </a:spcAft>
              <a:buClrTx/>
              <a:buSzTx/>
            </a:pPr>
            <a:r>
              <a:rPr lang="en-US" altLang="en-US" sz="2000" dirty="0" err="1"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Seaborn</a:t>
            </a:r>
            <a:r>
              <a:rPr lang="en-US" altLang="en-US" sz="20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sz="2000" dirty="0" err="1"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barplot</a:t>
            </a:r>
            <a:r>
              <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sz="20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or </a:t>
            </a:r>
            <a:r>
              <a:rPr lang="en-US" altLang="en-US" sz="2000" dirty="0" err="1"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Matplotlib’s</a:t>
            </a:r>
            <a:r>
              <a:rPr lang="en-US" altLang="en-US" sz="20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bar()) was used to analyze the distribution of the Brand categorical variable, highlighting the market presence of different manufacturers</a:t>
            </a:r>
            <a:r>
              <a:rPr lang="en-US" altLang="en-US" sz="2000" dirty="0" smtClean="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endPar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lvl="0" algn="just" eaLnBrk="0" fontAlgn="base" hangingPunct="0">
              <a:spcBef>
                <a:spcPct val="0"/>
              </a:spcBef>
              <a:spcAft>
                <a:spcPct val="0"/>
              </a:spcAft>
              <a:buClrTx/>
              <a:buFontTx/>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The bar chart displays the Top 10 Television Brands available on </a:t>
            </a:r>
            <a:r>
              <a:rPr lang="en-US" sz="2000" dirty="0" err="1">
                <a:latin typeface="Times New Roman" panose="02020603050405020304" pitchFamily="18" charset="0"/>
                <a:ea typeface="Calibri" panose="020F0502020204030204" pitchFamily="34" charset="0"/>
                <a:cs typeface="Times New Roman" panose="02020603050405020304" pitchFamily="18" charset="0"/>
              </a:rPr>
              <a:t>Flipkart</a:t>
            </a:r>
            <a:r>
              <a:rPr lang="en-US" sz="2000" dirty="0">
                <a:latin typeface="Times New Roman" panose="02020603050405020304" pitchFamily="18" charset="0"/>
                <a:ea typeface="Calibri" panose="020F0502020204030204" pitchFamily="34" charset="0"/>
                <a:cs typeface="Times New Roman" panose="02020603050405020304" pitchFamily="18" charset="0"/>
              </a:rPr>
              <a:t>, clearly showing that brands such as Samsung, LG, and Sony dominate the dataset with the highest number of television models.</a:t>
            </a:r>
            <a:endParaRPr lang="en-US" altLang="en-US"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lvl="0" algn="just" eaLnBrk="0" fontAlgn="base" hangingPunct="0">
              <a:spcBef>
                <a:spcPct val="0"/>
              </a:spcBef>
              <a:spcAft>
                <a:spcPct val="0"/>
              </a:spcAft>
              <a:buClrTx/>
              <a:buFontTx/>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The analysis reveals a sharp decline in model count after the top three brands, indicating that a majority of televisions are offered by a few leading manufacturers, while brands like </a:t>
            </a:r>
            <a:r>
              <a:rPr lang="en-US" sz="2000" dirty="0" err="1">
                <a:latin typeface="Times New Roman" panose="02020603050405020304" pitchFamily="18" charset="0"/>
                <a:ea typeface="Calibri" panose="020F0502020204030204" pitchFamily="34" charset="0"/>
                <a:cs typeface="Times New Roman" panose="02020603050405020304" pitchFamily="18" charset="0"/>
              </a:rPr>
              <a:t>Mi</a:t>
            </a: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OnePlus</a:t>
            </a:r>
            <a:r>
              <a:rPr lang="en-US" sz="2000" dirty="0">
                <a:latin typeface="Times New Roman" panose="02020603050405020304" pitchFamily="18" charset="0"/>
                <a:ea typeface="Calibri" panose="020F0502020204030204" pitchFamily="34" charset="0"/>
                <a:cs typeface="Times New Roman" panose="02020603050405020304" pitchFamily="18" charset="0"/>
              </a:rPr>
              <a:t>, and TCL appear with comparatively fewer models.</a:t>
            </a:r>
          </a:p>
          <a:p>
            <a:pPr lvl="0" algn="just" eaLnBrk="0" fontAlgn="base" hangingPunct="0">
              <a:spcBef>
                <a:spcPct val="0"/>
              </a:spcBef>
              <a:spcAft>
                <a:spcPct val="0"/>
              </a:spcAft>
              <a:buClrTx/>
              <a:buFontTx/>
              <a:buChar char="•"/>
            </a:pPr>
            <a:r>
              <a:rPr lang="en-US" sz="2000" dirty="0">
                <a:latin typeface="Times New Roman" panose="02020603050405020304" pitchFamily="18" charset="0"/>
                <a:ea typeface="Calibri" panose="020F0502020204030204" pitchFamily="34" charset="0"/>
                <a:cs typeface="Times New Roman" panose="02020603050405020304" pitchFamily="18" charset="0"/>
              </a:rPr>
              <a:t>The x-axis labels are rotated for better readability, highlighting that the television market on </a:t>
            </a:r>
            <a:r>
              <a:rPr lang="en-US" sz="2000" dirty="0" err="1">
                <a:latin typeface="Times New Roman" panose="02020603050405020304" pitchFamily="18" charset="0"/>
                <a:ea typeface="Calibri" panose="020F0502020204030204" pitchFamily="34" charset="0"/>
                <a:cs typeface="Times New Roman" panose="02020603050405020304" pitchFamily="18" charset="0"/>
              </a:rPr>
              <a:t>Flipkart</a:t>
            </a:r>
            <a:r>
              <a:rPr lang="en-US" sz="2000" dirty="0">
                <a:latin typeface="Times New Roman" panose="02020603050405020304" pitchFamily="18" charset="0"/>
                <a:ea typeface="Calibri" panose="020F0502020204030204" pitchFamily="34" charset="0"/>
                <a:cs typeface="Times New Roman" panose="02020603050405020304" pitchFamily="18" charset="0"/>
              </a:rPr>
              <a:t> is highly concentrated among a small number of well-established brands, reflecting strong brand dominance and consumer preference</a:t>
            </a:r>
            <a:r>
              <a:rPr lang="en-US" sz="2000" dirty="0">
                <a:latin typeface="Calibri" panose="020F0502020204030204" pitchFamily="34" charset="0"/>
                <a:ea typeface="Calibri" panose="020F0502020204030204" pitchFamily="34" charset="0"/>
                <a:cs typeface="Calibri" panose="020F0502020204030204" pitchFamily="34" charset="0"/>
              </a:rPr>
              <a:t>.</a:t>
            </a:r>
            <a:endParaRPr lang="en-US" alt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 xmlns:a16="http://schemas.microsoft.com/office/drawing/2014/main" id="{08E40349-ECC0-F93E-CDF3-66367CA7616F}"/>
              </a:ext>
            </a:extLst>
          </p:cNvPr>
          <p:cNvPicPr>
            <a:picLocks noChangeAspect="1"/>
          </p:cNvPicPr>
          <p:nvPr/>
        </p:nvPicPr>
        <p:blipFill>
          <a:blip r:embed="rId2"/>
          <a:stretch>
            <a:fillRect/>
          </a:stretch>
        </p:blipFill>
        <p:spPr>
          <a:xfrm>
            <a:off x="7978140" y="1531620"/>
            <a:ext cx="3996690" cy="4625340"/>
          </a:xfrm>
          <a:prstGeom prst="rect">
            <a:avLst/>
          </a:prstGeom>
        </p:spPr>
      </p:pic>
    </p:spTree>
    <p:extLst>
      <p:ext uri="{BB962C8B-B14F-4D97-AF65-F5344CB8AC3E}">
        <p14:creationId xmlns:p14="http://schemas.microsoft.com/office/powerpoint/2010/main" val="24206075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2156DB9-CFE0-861F-FD41-2793A641B21A}"/>
              </a:ext>
            </a:extLst>
          </p:cNvPr>
          <p:cNvSpPr>
            <a:spLocks noGrp="1"/>
          </p:cNvSpPr>
          <p:nvPr>
            <p:ph type="title"/>
          </p:nvPr>
        </p:nvSpPr>
        <p:spPr>
          <a:xfrm>
            <a:off x="0" y="354768"/>
            <a:ext cx="10994571" cy="614589"/>
          </a:xfrm>
        </p:spPr>
        <p:txBody>
          <a:bodyPr>
            <a:noAutofit/>
          </a:bodyPr>
          <a:lstStyle/>
          <a:p>
            <a:pPr algn="ctr"/>
            <a:r>
              <a:rPr lang="en-IN" sz="3200" b="1" dirty="0">
                <a:solidFill>
                  <a:schemeClr val="tx1"/>
                </a:solidFill>
                <a:latin typeface="Times New Roman" panose="02020603050405020304" pitchFamily="18" charset="0"/>
                <a:cs typeface="Times New Roman" panose="02020603050405020304" pitchFamily="18" charset="0"/>
              </a:rPr>
              <a:t>Data </a:t>
            </a:r>
            <a:r>
              <a:rPr lang="en-IN" sz="3200" b="1" dirty="0" smtClean="0">
                <a:solidFill>
                  <a:schemeClr val="tx1"/>
                </a:solidFill>
                <a:latin typeface="Times New Roman" panose="02020603050405020304" pitchFamily="18" charset="0"/>
                <a:cs typeface="Times New Roman" panose="02020603050405020304" pitchFamily="18" charset="0"/>
              </a:rPr>
              <a:t>Visualization </a:t>
            </a:r>
            <a:r>
              <a:rPr lang="en-IN" sz="3200" b="1" dirty="0" err="1" smtClean="0">
                <a:solidFill>
                  <a:schemeClr val="tx1"/>
                </a:solidFill>
                <a:latin typeface="Times New Roman" panose="02020603050405020304" pitchFamily="18" charset="0"/>
                <a:cs typeface="Times New Roman" panose="02020603050405020304" pitchFamily="18" charset="0"/>
              </a:rPr>
              <a:t>Univariate</a:t>
            </a:r>
            <a:r>
              <a:rPr lang="en-IN" sz="3200" b="1" dirty="0" smtClean="0">
                <a:solidFill>
                  <a:schemeClr val="tx1"/>
                </a:solidFill>
                <a:latin typeface="Times New Roman" panose="02020603050405020304" pitchFamily="18" charset="0"/>
                <a:cs typeface="Times New Roman" panose="02020603050405020304" pitchFamily="18" charset="0"/>
              </a:rPr>
              <a:t> </a:t>
            </a:r>
            <a:r>
              <a:rPr lang="en-IN" sz="3200" b="1" dirty="0">
                <a:solidFill>
                  <a:schemeClr val="tx1"/>
                </a:solidFill>
                <a:latin typeface="Times New Roman" panose="02020603050405020304" pitchFamily="18" charset="0"/>
                <a:cs typeface="Times New Roman" panose="02020603050405020304" pitchFamily="18" charset="0"/>
              </a:rPr>
              <a:t>Analysis(Numerical)</a:t>
            </a:r>
          </a:p>
        </p:txBody>
      </p:sp>
      <p:sp>
        <p:nvSpPr>
          <p:cNvPr id="3" name="TextBox 2">
            <a:extLst>
              <a:ext uri="{FF2B5EF4-FFF2-40B4-BE49-F238E27FC236}">
                <a16:creationId xmlns:a16="http://schemas.microsoft.com/office/drawing/2014/main" xmlns="" id="{0429B3D8-24F0-BFDD-F8CA-E6AACD40E032}"/>
              </a:ext>
            </a:extLst>
          </p:cNvPr>
          <p:cNvSpPr txBox="1"/>
          <p:nvPr/>
        </p:nvSpPr>
        <p:spPr>
          <a:xfrm>
            <a:off x="364128" y="3947193"/>
            <a:ext cx="6245091" cy="400110"/>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C0015044-ABE3-47C8-EED2-7364BAEA7440}"/>
              </a:ext>
            </a:extLst>
          </p:cNvPr>
          <p:cNvSpPr txBox="1"/>
          <p:nvPr/>
        </p:nvSpPr>
        <p:spPr>
          <a:xfrm>
            <a:off x="1012373" y="1566863"/>
            <a:ext cx="6245091" cy="400110"/>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p:txBody>
      </p:sp>
      <p:sp>
        <p:nvSpPr>
          <p:cNvPr id="8" name="Rectangle 4">
            <a:extLst>
              <a:ext uri="{FF2B5EF4-FFF2-40B4-BE49-F238E27FC236}">
                <a16:creationId xmlns:a16="http://schemas.microsoft.com/office/drawing/2014/main" xmlns="" id="{BBC25954-0D45-D187-B2D9-DBF6D43EE612}"/>
              </a:ext>
            </a:extLst>
          </p:cNvPr>
          <p:cNvSpPr>
            <a:spLocks noChangeArrowheads="1"/>
          </p:cNvSpPr>
          <p:nvPr/>
        </p:nvSpPr>
        <p:spPr bwMode="auto">
          <a:xfrm>
            <a:off x="179615" y="1571620"/>
            <a:ext cx="663266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A histogram was used to analyze the distribution of television prices on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helping to identify the most common price segments available to customers</a:t>
            </a:r>
            <a:r>
              <a:rPr lang="en-US" sz="2000" dirty="0" smtClean="0">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Smaller clusters appear around the ₹25,000 and ₹40,000 price points, representing premium segments such as smart TVs with larger screen sizes, higher resolution (4K), and advanced features.</a:t>
            </a:r>
          </a:p>
          <a:p>
            <a:pPr lvl="0" eaLnBrk="0" fontAlgn="base" hangingPunct="0">
              <a:spcBef>
                <a:spcPct val="0"/>
              </a:spcBef>
              <a:spcAft>
                <a:spcPct val="0"/>
              </a:spcAft>
              <a:buClrTx/>
              <a:buFontTx/>
              <a:buChar char="•"/>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The visualization clearly highlights that </a:t>
            </a:r>
            <a:r>
              <a:rPr lang="en-US" sz="2000" dirty="0" err="1">
                <a:latin typeface="Times New Roman" panose="02020603050405020304" pitchFamily="18" charset="0"/>
                <a:cs typeface="Times New Roman" panose="02020603050405020304" pitchFamily="18" charset="0"/>
              </a:rPr>
              <a:t>Flipkart’s</a:t>
            </a:r>
            <a:r>
              <a:rPr lang="en-US" sz="2000" dirty="0">
                <a:latin typeface="Times New Roman" panose="02020603050405020304" pitchFamily="18" charset="0"/>
                <a:cs typeface="Times New Roman" panose="02020603050405020304" pitchFamily="18" charset="0"/>
              </a:rPr>
              <a:t> television inventory is primarily focused on budget-friendly and mid-range consumers, as the frequency of models drops significantly beyond the ₹20,000 range, showing fewer high-end offerings compared to affordable options.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 xmlns:a16="http://schemas.microsoft.com/office/drawing/2014/main" id="{731A713A-6876-7038-71F3-C3C6D7F4811A}"/>
              </a:ext>
            </a:extLst>
          </p:cNvPr>
          <p:cNvPicPr>
            <a:picLocks noChangeAspect="1"/>
          </p:cNvPicPr>
          <p:nvPr/>
        </p:nvPicPr>
        <p:blipFill>
          <a:blip r:embed="rId2"/>
          <a:stretch>
            <a:fillRect/>
          </a:stretch>
        </p:blipFill>
        <p:spPr>
          <a:xfrm>
            <a:off x="6900454" y="1403350"/>
            <a:ext cx="4811486" cy="4632960"/>
          </a:xfrm>
          <a:prstGeom prst="rect">
            <a:avLst/>
          </a:prstGeom>
        </p:spPr>
      </p:pic>
    </p:spTree>
    <p:extLst>
      <p:ext uri="{BB962C8B-B14F-4D97-AF65-F5344CB8AC3E}">
        <p14:creationId xmlns:p14="http://schemas.microsoft.com/office/powerpoint/2010/main" val="2530832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39CB1F-F52B-AB9B-23B5-48A7B7E12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2A07876-07C0-93DC-2DD7-21561A9F9908}"/>
              </a:ext>
            </a:extLst>
          </p:cNvPr>
          <p:cNvSpPr>
            <a:spLocks noGrp="1"/>
          </p:cNvSpPr>
          <p:nvPr>
            <p:ph type="title"/>
          </p:nvPr>
        </p:nvSpPr>
        <p:spPr>
          <a:xfrm>
            <a:off x="0" y="97971"/>
            <a:ext cx="12192000" cy="979715"/>
          </a:xfrm>
        </p:spPr>
        <p:txBody>
          <a:bodyPr>
            <a:noAutofit/>
          </a:bodyPr>
          <a:lstStyle/>
          <a:p>
            <a:pPr algn="ctr"/>
            <a:r>
              <a:rPr lang="en-IN" sz="3200" b="1" dirty="0">
                <a:solidFill>
                  <a:schemeClr val="tx1"/>
                </a:solidFill>
                <a:latin typeface="Times New Roman" panose="02020603050405020304" pitchFamily="18" charset="0"/>
                <a:cs typeface="Times New Roman" panose="02020603050405020304" pitchFamily="18" charset="0"/>
              </a:rPr>
              <a:t>Data </a:t>
            </a:r>
            <a:r>
              <a:rPr lang="en-IN" sz="3200" b="1" dirty="0" smtClean="0">
                <a:solidFill>
                  <a:schemeClr val="tx1"/>
                </a:solidFill>
                <a:latin typeface="Times New Roman" panose="02020603050405020304" pitchFamily="18" charset="0"/>
                <a:cs typeface="Times New Roman" panose="02020603050405020304" pitchFamily="18" charset="0"/>
              </a:rPr>
              <a:t>Visualization Bivariate </a:t>
            </a:r>
            <a:r>
              <a:rPr lang="en-IN" sz="3200" b="1" dirty="0">
                <a:solidFill>
                  <a:schemeClr val="tx1"/>
                </a:solidFill>
                <a:latin typeface="Times New Roman" panose="02020603050405020304" pitchFamily="18" charset="0"/>
                <a:cs typeface="Times New Roman" panose="02020603050405020304" pitchFamily="18" charset="0"/>
              </a:rPr>
              <a:t>Analysis(Categorial vs Numerical)</a:t>
            </a:r>
          </a:p>
        </p:txBody>
      </p:sp>
      <p:sp>
        <p:nvSpPr>
          <p:cNvPr id="7" name="TextBox 6">
            <a:extLst>
              <a:ext uri="{FF2B5EF4-FFF2-40B4-BE49-F238E27FC236}">
                <a16:creationId xmlns:a16="http://schemas.microsoft.com/office/drawing/2014/main" xmlns="" id="{2366EB7C-1965-1CFE-EBC4-1BE3A469C23D}"/>
              </a:ext>
            </a:extLst>
          </p:cNvPr>
          <p:cNvSpPr txBox="1"/>
          <p:nvPr/>
        </p:nvSpPr>
        <p:spPr>
          <a:xfrm>
            <a:off x="391886" y="1513114"/>
            <a:ext cx="6640285" cy="458074"/>
          </a:xfrm>
          <a:prstGeom prst="rect">
            <a:avLst/>
          </a:prstGeom>
          <a:noFill/>
        </p:spPr>
        <p:txBody>
          <a:bodyPr wrap="square" rtlCol="0">
            <a:spAutoFit/>
          </a:bodyPr>
          <a:lstStyle/>
          <a:p>
            <a:pPr>
              <a:lnSpc>
                <a:spcPct val="150000"/>
              </a:lnSpc>
            </a:pPr>
            <a:r>
              <a:rPr lang="en-US" sz="1800" dirty="0">
                <a:latin typeface="Times New Roman" panose="02020603050405020304" pitchFamily="18" charset="0"/>
                <a:cs typeface="Times New Roman" panose="02020603050405020304" pitchFamily="18" charset="0"/>
              </a:rPr>
              <a:t>.</a:t>
            </a:r>
          </a:p>
        </p:txBody>
      </p:sp>
      <p:sp>
        <p:nvSpPr>
          <p:cNvPr id="10" name="Rectangle 2">
            <a:extLst>
              <a:ext uri="{FF2B5EF4-FFF2-40B4-BE49-F238E27FC236}">
                <a16:creationId xmlns:a16="http://schemas.microsoft.com/office/drawing/2014/main" xmlns="" id="{24AE9313-DF62-636D-6D7C-FE9AC2FF53C1}"/>
              </a:ext>
            </a:extLst>
          </p:cNvPr>
          <p:cNvSpPr>
            <a:spLocks noChangeArrowheads="1"/>
          </p:cNvSpPr>
          <p:nvPr/>
        </p:nvSpPr>
        <p:spPr bwMode="auto">
          <a:xfrm rot="10800000" flipV="1">
            <a:off x="91440" y="2013253"/>
            <a:ext cx="741807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A box plot was created to compare the price distribution of televisions across the top 5 brands on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highlighting differences in pricing strategies among manufacturers</a:t>
            </a:r>
            <a:r>
              <a:rPr lang="en-US" sz="2000" dirty="0" smtClean="0">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buFontTx/>
              <a:buChar char="•"/>
            </a:pPr>
            <a:r>
              <a:rPr kumimoji="0" lang="en-US" altLang="en-US" sz="20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Samsung shows the widest price range and the highest-priced television models, indicating a premium positioning with both mid-range and high-end TVs. Its median price is noticeably higher than brands such as </a:t>
            </a:r>
            <a:r>
              <a:rPr lang="en-US" sz="2000" dirty="0" err="1">
                <a:latin typeface="Times New Roman" panose="02020603050405020304" pitchFamily="18" charset="0"/>
                <a:cs typeface="Times New Roman" panose="02020603050405020304" pitchFamily="18" charset="0"/>
              </a:rPr>
              <a:t>Mi</a:t>
            </a:r>
            <a:r>
              <a:rPr lang="en-US" sz="2000" dirty="0">
                <a:latin typeface="Times New Roman" panose="02020603050405020304" pitchFamily="18" charset="0"/>
                <a:cs typeface="Times New Roman" panose="02020603050405020304" pitchFamily="18" charset="0"/>
              </a:rPr>
              <a:t> or </a:t>
            </a:r>
            <a:r>
              <a:rPr lang="en-US" sz="2000" dirty="0" err="1" smtClean="0">
                <a:latin typeface="Times New Roman" panose="02020603050405020304" pitchFamily="18" charset="0"/>
                <a:cs typeface="Times New Roman" panose="02020603050405020304" pitchFamily="18" charset="0"/>
              </a:rPr>
              <a:t>Realme</a:t>
            </a:r>
            <a:r>
              <a:rPr lang="en-US" sz="2000" dirty="0" smtClean="0">
                <a:latin typeface="Times New Roman" panose="02020603050405020304" pitchFamily="18" charset="0"/>
                <a:cs typeface="Times New Roman" panose="02020603050405020304" pitchFamily="18" charset="0"/>
              </a:rPr>
              <a:t>.</a:t>
            </a:r>
          </a:p>
          <a:p>
            <a:pPr lvl="0" algn="just" eaLnBrk="0" fontAlgn="base" hangingPunct="0">
              <a:spcBef>
                <a:spcPct val="0"/>
              </a:spcBef>
              <a:spcAft>
                <a:spcPct val="0"/>
              </a:spcAft>
              <a:buClrTx/>
              <a:buFontTx/>
              <a:buChar char="•"/>
            </a:pPr>
            <a:r>
              <a:rPr lang="en-US" sz="2000" dirty="0" err="1" smtClean="0">
                <a:latin typeface="Times New Roman" panose="02020603050405020304" pitchFamily="18" charset="0"/>
                <a:cs typeface="Times New Roman" panose="02020603050405020304" pitchFamily="18" charset="0"/>
              </a:rPr>
              <a:t>Mi</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 </a:t>
            </a:r>
            <a:r>
              <a:rPr lang="en-US" sz="2000" dirty="0" err="1">
                <a:latin typeface="Times New Roman" panose="02020603050405020304" pitchFamily="18" charset="0"/>
                <a:cs typeface="Times New Roman" panose="02020603050405020304" pitchFamily="18" charset="0"/>
              </a:rPr>
              <a:t>Realme</a:t>
            </a:r>
            <a:r>
              <a:rPr lang="en-US" sz="2000" dirty="0">
                <a:latin typeface="Times New Roman" panose="02020603050405020304" pitchFamily="18" charset="0"/>
                <a:cs typeface="Times New Roman" panose="02020603050405020304" pitchFamily="18" charset="0"/>
              </a:rPr>
              <a:t> display narrow box plots, suggesting a consistent and budget-friendly pricing strategy where most television models fall within an affordable price range.</a:t>
            </a:r>
          </a:p>
          <a:p>
            <a:pPr lvl="0" algn="just" eaLnBrk="0" fontAlgn="base" hangingPunct="0">
              <a:spcBef>
                <a:spcPct val="0"/>
              </a:spcBef>
              <a:spcAft>
                <a:spcPct val="0"/>
              </a:spcAft>
              <a:buClrTx/>
            </a:pPr>
            <a:r>
              <a:rPr lang="en-US" sz="2000" dirty="0" smtClean="0">
                <a:latin typeface="Times New Roman" panose="02020603050405020304" pitchFamily="18" charset="0"/>
                <a:cs typeface="Times New Roman" panose="02020603050405020304" pitchFamily="18" charset="0"/>
              </a:rPr>
              <a:t>.</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50C9E85C-B31F-334D-DE99-EC33B504CE7E}"/>
              </a:ext>
            </a:extLst>
          </p:cNvPr>
          <p:cNvPicPr>
            <a:picLocks noChangeAspect="1"/>
          </p:cNvPicPr>
          <p:nvPr/>
        </p:nvPicPr>
        <p:blipFill>
          <a:blip r:embed="rId2"/>
          <a:stretch>
            <a:fillRect/>
          </a:stretch>
        </p:blipFill>
        <p:spPr>
          <a:xfrm>
            <a:off x="7725852" y="1584960"/>
            <a:ext cx="4298507" cy="4226560"/>
          </a:xfrm>
          <a:prstGeom prst="rect">
            <a:avLst/>
          </a:prstGeom>
        </p:spPr>
      </p:pic>
    </p:spTree>
    <p:extLst>
      <p:ext uri="{BB962C8B-B14F-4D97-AF65-F5344CB8AC3E}">
        <p14:creationId xmlns:p14="http://schemas.microsoft.com/office/powerpoint/2010/main" val="7127140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461A13-0770-5F19-9105-5BE0808A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D0671AE-6593-5B1A-5289-CECB9FBCD174}"/>
              </a:ext>
            </a:extLst>
          </p:cNvPr>
          <p:cNvSpPr>
            <a:spLocks noGrp="1"/>
          </p:cNvSpPr>
          <p:nvPr>
            <p:ph type="title"/>
          </p:nvPr>
        </p:nvSpPr>
        <p:spPr>
          <a:xfrm>
            <a:off x="220717" y="354768"/>
            <a:ext cx="11568512" cy="255367"/>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br>
              <a:rPr lang="en-IN" sz="4000" b="1" dirty="0">
                <a:solidFill>
                  <a:schemeClr val="tx1"/>
                </a:solidFill>
                <a:latin typeface="Times New Roman" panose="02020603050405020304" pitchFamily="18" charset="0"/>
                <a:cs typeface="Times New Roman" panose="02020603050405020304" pitchFamily="18" charset="0"/>
              </a:rPr>
            </a:br>
            <a:r>
              <a:rPr lang="en-IN" sz="4000" b="1" dirty="0">
                <a:solidFill>
                  <a:schemeClr val="tx1"/>
                </a:solidFill>
                <a:latin typeface="Times New Roman" panose="02020603050405020304" pitchFamily="18" charset="0"/>
                <a:cs typeface="Times New Roman" panose="02020603050405020304" pitchFamily="18" charset="0"/>
              </a:rPr>
              <a:t>Bivariate Analysis(Numerical vs Numerical)</a:t>
            </a:r>
          </a:p>
        </p:txBody>
      </p:sp>
      <p:sp>
        <p:nvSpPr>
          <p:cNvPr id="3" name="Rectangle 1">
            <a:extLst>
              <a:ext uri="{FF2B5EF4-FFF2-40B4-BE49-F238E27FC236}">
                <a16:creationId xmlns:a16="http://schemas.microsoft.com/office/drawing/2014/main" xmlns="" id="{D79CDD9A-EEE9-2D1D-588B-081F4AD93082}"/>
              </a:ext>
            </a:extLst>
          </p:cNvPr>
          <p:cNvSpPr>
            <a:spLocks noChangeArrowheads="1"/>
          </p:cNvSpPr>
          <p:nvPr/>
        </p:nvSpPr>
        <p:spPr bwMode="auto">
          <a:xfrm rot="10800000" flipV="1">
            <a:off x="308609" y="2150687"/>
            <a:ext cx="746379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ct val="0"/>
              </a:spcAft>
              <a:buClrTx/>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our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Television Web Scraping project, the </a:t>
            </a:r>
            <a:r>
              <a:rPr lang="en-US" sz="2000" dirty="0" err="1">
                <a:latin typeface="Times New Roman" panose="02020603050405020304" pitchFamily="18" charset="0"/>
                <a:cs typeface="Times New Roman" panose="02020603050405020304" pitchFamily="18" charset="0"/>
              </a:rPr>
              <a:t>heatmap</a:t>
            </a:r>
            <a:r>
              <a:rPr lang="en-US" sz="2000" dirty="0">
                <a:latin typeface="Times New Roman" panose="02020603050405020304" pitchFamily="18" charset="0"/>
                <a:cs typeface="Times New Roman" panose="02020603050405020304" pitchFamily="18" charset="0"/>
              </a:rPr>
              <a:t> is used only to visualize correlations between variables that were already computed from the scraped data; it does not calculate the correlations </a:t>
            </a:r>
            <a:r>
              <a:rPr lang="en-US" sz="2000" dirty="0" smtClean="0">
                <a:latin typeface="Times New Roman" panose="02020603050405020304" pitchFamily="18" charset="0"/>
                <a:cs typeface="Times New Roman" panose="02020603050405020304" pitchFamily="18" charset="0"/>
              </a:rPr>
              <a:t>itself.</a:t>
            </a:r>
          </a:p>
          <a:p>
            <a:pPr marL="342900" lvl="0" indent="-342900" eaLnBrk="0" fontAlgn="base" hangingPunct="0">
              <a:spcBef>
                <a:spcPct val="0"/>
              </a:spcBef>
              <a:spcAft>
                <a:spcPct val="0"/>
              </a:spcAft>
              <a:buClrTx/>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Price </a:t>
            </a:r>
            <a:r>
              <a:rPr lang="en-US" sz="2000" dirty="0">
                <a:latin typeface="Times New Roman" panose="02020603050405020304" pitchFamily="18" charset="0"/>
                <a:cs typeface="Times New Roman" panose="02020603050405020304" pitchFamily="18" charset="0"/>
              </a:rPr>
              <a:t>and screen size show a strong positive relationship. Larger televisions generally cost more, but the final price is also influenced by brand value, display technology (LED, QLED, OLED), and smart </a:t>
            </a:r>
            <a:r>
              <a:rPr lang="en-US" sz="2000" dirty="0" smtClean="0">
                <a:latin typeface="Times New Roman" panose="02020603050405020304" pitchFamily="18" charset="0"/>
                <a:cs typeface="Times New Roman" panose="02020603050405020304" pitchFamily="18" charset="0"/>
              </a:rPr>
              <a:t>features.</a:t>
            </a:r>
          </a:p>
          <a:p>
            <a:pPr marL="342900" lvl="0" indent="-342900" eaLnBrk="0" fontAlgn="base" hangingPunct="0">
              <a:spcBef>
                <a:spcPct val="0"/>
              </a:spcBef>
              <a:spcAft>
                <a:spcPct val="0"/>
              </a:spcAft>
              <a:buClrTx/>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Selling </a:t>
            </a:r>
            <a:r>
              <a:rPr lang="en-US" sz="2000" dirty="0">
                <a:latin typeface="Times New Roman" panose="02020603050405020304" pitchFamily="18" charset="0"/>
                <a:cs typeface="Times New Roman" panose="02020603050405020304" pitchFamily="18" charset="0"/>
              </a:rPr>
              <a:t>price and original (MRP) price are almost perfectly correlated and act as duplicate variables. Keeping both can cause </a:t>
            </a:r>
            <a:r>
              <a:rPr lang="en-US" sz="2000" dirty="0" smtClean="0">
                <a:latin typeface="Times New Roman" panose="02020603050405020304" pitchFamily="18" charset="0"/>
                <a:cs typeface="Times New Roman" panose="02020603050405020304" pitchFamily="18" charset="0"/>
              </a:rPr>
              <a:t>multi </a:t>
            </a:r>
            <a:r>
              <a:rPr lang="en-US" sz="2000" dirty="0" err="1" smtClean="0">
                <a:latin typeface="Times New Roman" panose="02020603050405020304" pitchFamily="18" charset="0"/>
                <a:cs typeface="Times New Roman" panose="02020603050405020304" pitchFamily="18" charset="0"/>
              </a:rPr>
              <a:t>collinearity</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issues, so retaining only one price column improves the quality of analysis.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 xmlns:a16="http://schemas.microsoft.com/office/drawing/2014/main" id="{0D591F33-FF70-0A43-DC1C-F848120672C2}"/>
              </a:ext>
            </a:extLst>
          </p:cNvPr>
          <p:cNvPicPr>
            <a:picLocks noChangeAspect="1"/>
          </p:cNvPicPr>
          <p:nvPr/>
        </p:nvPicPr>
        <p:blipFill>
          <a:blip r:embed="rId2"/>
          <a:stretch>
            <a:fillRect/>
          </a:stretch>
        </p:blipFill>
        <p:spPr>
          <a:xfrm>
            <a:off x="7772398" y="1557994"/>
            <a:ext cx="4263391" cy="4540545"/>
          </a:xfrm>
          <a:prstGeom prst="rect">
            <a:avLst/>
          </a:prstGeom>
        </p:spPr>
      </p:pic>
    </p:spTree>
    <p:extLst>
      <p:ext uri="{BB962C8B-B14F-4D97-AF65-F5344CB8AC3E}">
        <p14:creationId xmlns:p14="http://schemas.microsoft.com/office/powerpoint/2010/main" val="2814340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D98682-D684-5CBE-45F7-312D5903D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ACBA065-3F45-1970-A334-E1F2237E112B}"/>
              </a:ext>
            </a:extLst>
          </p:cNvPr>
          <p:cNvSpPr>
            <a:spLocks noGrp="1"/>
          </p:cNvSpPr>
          <p:nvPr>
            <p:ph type="title"/>
          </p:nvPr>
        </p:nvSpPr>
        <p:spPr>
          <a:xfrm>
            <a:off x="0" y="354551"/>
            <a:ext cx="11004331"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           </a:t>
            </a:r>
            <a:r>
              <a:rPr lang="en-IN" sz="3200" b="1" dirty="0">
                <a:solidFill>
                  <a:schemeClr val="tx1"/>
                </a:solidFill>
                <a:latin typeface="Times New Roman" panose="02020603050405020304" pitchFamily="18" charset="0"/>
                <a:cs typeface="Times New Roman" panose="02020603050405020304" pitchFamily="18" charset="0"/>
              </a:rPr>
              <a:t>Data </a:t>
            </a:r>
            <a:r>
              <a:rPr lang="en-IN" sz="3200" b="1" dirty="0" smtClean="0">
                <a:solidFill>
                  <a:schemeClr val="tx1"/>
                </a:solidFill>
                <a:latin typeface="Times New Roman" panose="02020603050405020304" pitchFamily="18" charset="0"/>
                <a:cs typeface="Times New Roman" panose="02020603050405020304" pitchFamily="18" charset="0"/>
              </a:rPr>
              <a:t>Visualization Multivariate </a:t>
            </a:r>
            <a:r>
              <a:rPr lang="en-IN" sz="3200" b="1" dirty="0">
                <a:solidFill>
                  <a:schemeClr val="tx1"/>
                </a:solidFill>
                <a:latin typeface="Times New Roman" panose="02020603050405020304" pitchFamily="18" charset="0"/>
                <a:cs typeface="Times New Roman" panose="02020603050405020304" pitchFamily="18" charset="0"/>
              </a:rPr>
              <a:t>Analysis</a:t>
            </a:r>
          </a:p>
        </p:txBody>
      </p:sp>
      <p:sp>
        <p:nvSpPr>
          <p:cNvPr id="6" name="AutoShape 2" descr="Uploaded image">
            <a:extLst>
              <a:ext uri="{FF2B5EF4-FFF2-40B4-BE49-F238E27FC236}">
                <a16:creationId xmlns:a16="http://schemas.microsoft.com/office/drawing/2014/main" xmlns="" id="{FF2BBA46-6A04-758D-8D82-075F83FF8FB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Uploaded image">
            <a:extLst>
              <a:ext uri="{FF2B5EF4-FFF2-40B4-BE49-F238E27FC236}">
                <a16:creationId xmlns:a16="http://schemas.microsoft.com/office/drawing/2014/main" xmlns="" id="{CEAC6B55-1968-9314-8239-4735C2EF10B7}"/>
              </a:ext>
            </a:extLst>
          </p:cNvPr>
          <p:cNvSpPr>
            <a:spLocks noChangeAspect="1" noChangeArrowheads="1"/>
          </p:cNvSpPr>
          <p:nvPr/>
        </p:nvSpPr>
        <p:spPr bwMode="auto">
          <a:xfrm>
            <a:off x="2721429" y="54429"/>
            <a:ext cx="3679371" cy="36793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TextBox 10">
            <a:extLst>
              <a:ext uri="{FF2B5EF4-FFF2-40B4-BE49-F238E27FC236}">
                <a16:creationId xmlns:a16="http://schemas.microsoft.com/office/drawing/2014/main" xmlns="" id="{720DFE87-3B98-24A9-3C1B-2A43B4D9DD06}"/>
              </a:ext>
            </a:extLst>
          </p:cNvPr>
          <p:cNvSpPr txBox="1"/>
          <p:nvPr/>
        </p:nvSpPr>
        <p:spPr>
          <a:xfrm>
            <a:off x="1707771" y="1927825"/>
            <a:ext cx="5722182" cy="45719"/>
          </a:xfrm>
          <a:prstGeom prst="rect">
            <a:avLst/>
          </a:prstGeom>
          <a:noFill/>
        </p:spPr>
        <p:txBody>
          <a:bodyPr wrap="square">
            <a:spAutoFit/>
          </a:bodyPr>
          <a:lstStyle/>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15" name="Rectangle 2">
            <a:extLst>
              <a:ext uri="{FF2B5EF4-FFF2-40B4-BE49-F238E27FC236}">
                <a16:creationId xmlns:a16="http://schemas.microsoft.com/office/drawing/2014/main" xmlns="" id="{34D299BC-9B82-14E3-AC83-401EB4BC3A13}"/>
              </a:ext>
            </a:extLst>
          </p:cNvPr>
          <p:cNvSpPr>
            <a:spLocks noChangeArrowheads="1"/>
          </p:cNvSpPr>
          <p:nvPr/>
        </p:nvSpPr>
        <p:spPr bwMode="auto">
          <a:xfrm rot="10800000" flipV="1">
            <a:off x="422910" y="1973544"/>
            <a:ext cx="692658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Television ratings on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are tightly clustered between 4.2 and 4.5, showing little to no correlation between price and customer satisfaction.</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This indicates that higher-priced televisions do not automatically receive better ratings.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buFontTx/>
              <a:buChar char="•"/>
            </a:pPr>
            <a:r>
              <a:rPr lang="en-US" sz="2000" dirty="0">
                <a:latin typeface="Times New Roman" panose="02020603050405020304" pitchFamily="18" charset="0"/>
                <a:cs typeface="Times New Roman" panose="02020603050405020304" pitchFamily="18" charset="0"/>
              </a:rPr>
              <a:t>Premium brands such as Samsung and Sony do not consistently achieve higher ratings compared to mid-range brands, suggesting that consumers are often paying more for brand value, screen size, or advanced specifications, rather than a noticeable improvement in viewing satisfaction</a:t>
            </a:r>
            <a:r>
              <a:rPr lang="en-US" sz="2000" dirty="0"/>
              <a:t>.</a:t>
            </a:r>
          </a:p>
        </p:txBody>
      </p:sp>
      <p:pic>
        <p:nvPicPr>
          <p:cNvPr id="8" name="Picture 7">
            <a:extLst>
              <a:ext uri="{FF2B5EF4-FFF2-40B4-BE49-F238E27FC236}">
                <a16:creationId xmlns="" xmlns:a16="http://schemas.microsoft.com/office/drawing/2014/main" id="{C5847AEF-FF06-A667-7836-4F5B0E11F2F5}"/>
              </a:ext>
            </a:extLst>
          </p:cNvPr>
          <p:cNvPicPr>
            <a:picLocks noChangeAspect="1"/>
          </p:cNvPicPr>
          <p:nvPr/>
        </p:nvPicPr>
        <p:blipFill>
          <a:blip r:embed="rId2"/>
          <a:stretch>
            <a:fillRect/>
          </a:stretch>
        </p:blipFill>
        <p:spPr>
          <a:xfrm>
            <a:off x="7619254" y="1861819"/>
            <a:ext cx="4405105" cy="3439161"/>
          </a:xfrm>
          <a:prstGeom prst="rect">
            <a:avLst/>
          </a:prstGeom>
        </p:spPr>
      </p:pic>
    </p:spTree>
    <p:extLst>
      <p:ext uri="{BB962C8B-B14F-4D97-AF65-F5344CB8AC3E}">
        <p14:creationId xmlns:p14="http://schemas.microsoft.com/office/powerpoint/2010/main" val="30581484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CB9DEF-89CA-A2D6-D3EC-477F8E778C84}"/>
              </a:ext>
            </a:extLst>
          </p:cNvPr>
          <p:cNvSpPr>
            <a:spLocks noGrp="1"/>
          </p:cNvSpPr>
          <p:nvPr>
            <p:ph type="title"/>
          </p:nvPr>
        </p:nvSpPr>
        <p:spPr>
          <a:xfrm>
            <a:off x="254000" y="170815"/>
            <a:ext cx="3324772" cy="138672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  Conclusion</a:t>
            </a:r>
          </a:p>
        </p:txBody>
      </p:sp>
      <p:sp>
        <p:nvSpPr>
          <p:cNvPr id="5" name="TextBox 4">
            <a:extLst>
              <a:ext uri="{FF2B5EF4-FFF2-40B4-BE49-F238E27FC236}">
                <a16:creationId xmlns:a16="http://schemas.microsoft.com/office/drawing/2014/main" xmlns="" id="{BD9BDCE0-E25C-CC2E-5AE7-F0F7AC2DF94B}"/>
              </a:ext>
            </a:extLst>
          </p:cNvPr>
          <p:cNvSpPr txBox="1"/>
          <p:nvPr/>
        </p:nvSpPr>
        <p:spPr>
          <a:xfrm>
            <a:off x="254000" y="1580403"/>
            <a:ext cx="11237917" cy="3477875"/>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analysis shows that television prices on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increase mainly due to screen size, technology (LED, QLED, 4K), and brand positioning, rather than customer ratings. Ratings remain closely clustered between 4.2 and 4.5 across almost all price ranges, indicating that higher-priced televisions do not deliver significantly better user </a:t>
            </a:r>
            <a:r>
              <a:rPr lang="en-US" sz="2000" dirty="0" smtClean="0">
                <a:latin typeface="Times New Roman" panose="02020603050405020304" pitchFamily="18" charset="0"/>
                <a:cs typeface="Times New Roman" panose="02020603050405020304" pitchFamily="18" charset="0"/>
              </a:rPr>
              <a:t>satisfaction.</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selling price and original (MRP) price are largely redundant, and the observed discounts show a weak relationship with actual television features or performance. This suggests that discounts are primarily marketing strategies rather than indicators of product </a:t>
            </a:r>
            <a:r>
              <a:rPr lang="en-US" sz="2000" dirty="0" smtClean="0">
                <a:latin typeface="Times New Roman" panose="02020603050405020304" pitchFamily="18" charset="0"/>
                <a:cs typeface="Times New Roman" panose="02020603050405020304" pitchFamily="18" charset="0"/>
              </a:rPr>
              <a:t>quality.</a:t>
            </a:r>
          </a:p>
          <a:p>
            <a:pPr marL="342900" indent="-342900" algn="just">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Overall</a:t>
            </a:r>
            <a:r>
              <a:rPr lang="en-US" sz="2000" dirty="0">
                <a:latin typeface="Times New Roman" panose="02020603050405020304" pitchFamily="18" charset="0"/>
                <a:cs typeface="Times New Roman" panose="02020603050405020304" pitchFamily="18" charset="0"/>
              </a:rPr>
              <a:t>, the </a:t>
            </a:r>
            <a:r>
              <a:rPr lang="en-US" sz="2000" dirty="0" err="1">
                <a:latin typeface="Times New Roman" panose="02020603050405020304" pitchFamily="18" charset="0"/>
                <a:cs typeface="Times New Roman" panose="02020603050405020304" pitchFamily="18" charset="0"/>
              </a:rPr>
              <a:t>Flipkart</a:t>
            </a:r>
            <a:r>
              <a:rPr lang="en-US" sz="2000" dirty="0">
                <a:latin typeface="Times New Roman" panose="02020603050405020304" pitchFamily="18" charset="0"/>
                <a:cs typeface="Times New Roman" panose="02020603050405020304" pitchFamily="18" charset="0"/>
              </a:rPr>
              <a:t> television market is highly competitive, with mid-range televisions dominating the catalog. Customer satisfaction appears consistent across different brands and price segments, implying that purchasing decisions should focus more on key features such as screen size, resolution, smart TV capabilities, and display technology, rather than being influenced by price levels or discount hype.</a:t>
            </a:r>
          </a:p>
        </p:txBody>
      </p:sp>
    </p:spTree>
    <p:extLst>
      <p:ext uri="{BB962C8B-B14F-4D97-AF65-F5344CB8AC3E}">
        <p14:creationId xmlns:p14="http://schemas.microsoft.com/office/powerpoint/2010/main" val="16446870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xmlns="" id="{F1FB5D26-1BC2-45B5-5BCB-F1DF929FBFB9}"/>
            </a:ext>
          </a:extLst>
        </p:cNvPr>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580"/>
            <a:ext cx="12077700" cy="7006590"/>
          </a:xfrm>
          <a:prstGeom prst="rect">
            <a:avLst/>
          </a:prstGeom>
        </p:spPr>
      </p:pic>
    </p:spTree>
    <p:extLst>
      <p:ext uri="{BB962C8B-B14F-4D97-AF65-F5344CB8AC3E}">
        <p14:creationId xmlns:p14="http://schemas.microsoft.com/office/powerpoint/2010/main" val="9263068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1004</TotalTime>
  <Words>1279</Words>
  <Application>Microsoft Office PowerPoint</Application>
  <PresentationFormat>Widescreen</PresentationFormat>
  <Paragraphs>78</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Times New Roman</vt:lpstr>
      <vt:lpstr>Wingdings</vt:lpstr>
      <vt:lpstr>Arial</vt:lpstr>
      <vt:lpstr>Office Theme</vt:lpstr>
      <vt:lpstr>PowerPoint Presentation</vt:lpstr>
      <vt:lpstr>About Us:</vt:lpstr>
      <vt:lpstr>Preface:</vt:lpstr>
      <vt:lpstr>Introduction</vt:lpstr>
      <vt:lpstr>Business Problem</vt:lpstr>
      <vt:lpstr>Objectives</vt:lpstr>
      <vt:lpstr>Web Scrapping</vt:lpstr>
      <vt:lpstr>Dataset</vt:lpstr>
      <vt:lpstr>Tools used</vt:lpstr>
      <vt:lpstr>Data Cleaning Steps</vt:lpstr>
      <vt:lpstr>Data Visualization Univariate Analysis (Categorical)</vt:lpstr>
      <vt:lpstr>Data Visualization Univariate Analysis(Numerical)</vt:lpstr>
      <vt:lpstr>Data Visualization Bivariate Analysis(Categorial vs Numerical)</vt:lpstr>
      <vt:lpstr>Data Visualization Bivariate Analysis(Numerical vs Numerical)</vt:lpstr>
      <vt:lpstr>           Data Visualization Multivariate Analysis</vt:lpstr>
      <vt:lpstr>  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SIGMA</cp:lastModifiedBy>
  <cp:revision>38</cp:revision>
  <dcterms:created xsi:type="dcterms:W3CDTF">2021-02-16T05:19:01Z</dcterms:created>
  <dcterms:modified xsi:type="dcterms:W3CDTF">2026-01-09T07:31:20Z</dcterms:modified>
</cp:coreProperties>
</file>